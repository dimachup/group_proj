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4400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3200" b="1">
                <a:solidFill>
                  <a:srgbClr val="0070C0"/>
                </a:solidFill>
                <a:latin typeface="Calibri"/>
              </a:rPr>
              <a:t>CV to Target Estimate Pipeline</a:t>
            </a:r>
          </a:p>
        </p:txBody>
      </p:sp>
      <p:sp>
        <p:nvSpPr>
          <p:cNvPr id="3" name="Chevron 2"/>
          <p:cNvSpPr/>
          <p:nvPr/>
        </p:nvSpPr>
        <p:spPr>
          <a:xfrm>
            <a:off x="365760" y="914400"/>
            <a:ext cx="1783080" cy="1005840"/>
          </a:xfrm>
          <a:prstGeom prst="chevron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37160" tIns="109728" bIns="73152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Camera Capture</a:t>
            </a:r>
          </a:p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1456 x 1088 px</a:t>
            </a:r>
          </a:p>
          <a:p>
            <a:pPr algn="l"/>
            <a:r>
              <a:rPr sz="800" b="0">
                <a:solidFill>
                  <a:srgbClr val="DDE6F0"/>
                </a:solidFill>
                <a:latin typeface="Calibri"/>
              </a:rPr>
              <a:t>IMX296 global shutter</a:t>
            </a:r>
          </a:p>
        </p:txBody>
      </p:sp>
      <p:sp>
        <p:nvSpPr>
          <p:cNvPr id="4" name="Chevron 3"/>
          <p:cNvSpPr/>
          <p:nvPr/>
        </p:nvSpPr>
        <p:spPr>
          <a:xfrm>
            <a:off x="1984248" y="914400"/>
            <a:ext cx="1783080" cy="1005840"/>
          </a:xfrm>
          <a:prstGeom prst="chevron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37160" tIns="109728" bIns="73152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YOLOv8n Inference</a:t>
            </a:r>
          </a:p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NCNN backend - 73 ms</a:t>
            </a:r>
          </a:p>
          <a:p>
            <a:pPr algn="l"/>
            <a:r>
              <a:rPr sz="800" b="0">
                <a:solidFill>
                  <a:srgbClr val="DDE6F0"/>
                </a:solidFill>
                <a:latin typeface="Calibri"/>
              </a:rPr>
              <a:t>640x640 input tensor</a:t>
            </a:r>
          </a:p>
        </p:txBody>
      </p:sp>
      <p:sp>
        <p:nvSpPr>
          <p:cNvPr id="5" name="Chevron 4"/>
          <p:cNvSpPr/>
          <p:nvPr/>
        </p:nvSpPr>
        <p:spPr>
          <a:xfrm>
            <a:off x="3602736" y="914400"/>
            <a:ext cx="1783080" cy="1005840"/>
          </a:xfrm>
          <a:prstGeom prst="chevron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37160" tIns="109728" bIns="73152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Pixel -&gt; GPS</a:t>
            </a:r>
          </a:p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FOV projection + altitude</a:t>
            </a:r>
          </a:p>
          <a:p>
            <a:pPr algn="l"/>
            <a:r>
              <a:rPr sz="800" b="0">
                <a:solidFill>
                  <a:srgbClr val="DDE6F0"/>
                </a:solidFill>
                <a:latin typeface="Calibri"/>
              </a:rPr>
              <a:t>Calibrated focal length</a:t>
            </a:r>
          </a:p>
        </p:txBody>
      </p:sp>
      <p:sp>
        <p:nvSpPr>
          <p:cNvPr id="6" name="Chevron 5"/>
          <p:cNvSpPr/>
          <p:nvPr/>
        </p:nvSpPr>
        <p:spPr>
          <a:xfrm>
            <a:off x="5221224" y="914400"/>
            <a:ext cx="1783080" cy="1005840"/>
          </a:xfrm>
          <a:prstGeom prst="chevron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37160" tIns="109728" bIns="73152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Attitude Correction</a:t>
            </a:r>
          </a:p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Pitch + roll ray-trace</a:t>
            </a:r>
          </a:p>
          <a:p>
            <a:pPr algn="l"/>
            <a:r>
              <a:rPr sz="800" b="0">
                <a:solidFill>
                  <a:srgbClr val="DDE6F0"/>
                </a:solidFill>
                <a:latin typeface="Calibri"/>
              </a:rPr>
              <a:t>From flight controller</a:t>
            </a:r>
          </a:p>
        </p:txBody>
      </p:sp>
      <p:sp>
        <p:nvSpPr>
          <p:cNvPr id="7" name="Chevron 6"/>
          <p:cNvSpPr/>
          <p:nvPr/>
        </p:nvSpPr>
        <p:spPr>
          <a:xfrm>
            <a:off x="6839712" y="914400"/>
            <a:ext cx="1783080" cy="1005840"/>
          </a:xfrm>
          <a:prstGeom prst="chevron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37160" tIns="109728" bIns="73152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Target GPS</a:t>
            </a:r>
          </a:p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~9 FPS effective</a:t>
            </a:r>
          </a:p>
          <a:p>
            <a:pPr algn="l"/>
            <a:r>
              <a:rPr sz="800" b="0">
                <a:solidFill>
                  <a:srgbClr val="DDE6F0"/>
                </a:solidFill>
                <a:latin typeface="Calibri"/>
              </a:rPr>
              <a:t>CEP50 = 2.2 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194560"/>
            <a:ext cx="3017520" cy="4389120"/>
          </a:xfrm>
          <a:prstGeom prst="rect">
            <a:avLst/>
          </a:prstGeom>
          <a:solidFill>
            <a:srgbClr val="F8F9FA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9" name="Picture 8" descr="estimation_heatmap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40279"/>
            <a:ext cx="2926079" cy="42976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520440" y="2194560"/>
            <a:ext cx="2103120" cy="4389120"/>
          </a:xfrm>
          <a:prstGeom prst="rect">
            <a:avLst/>
          </a:prstGeom>
          <a:solidFill>
            <a:srgbClr val="F8F9FA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703320" y="2331720"/>
            <a:ext cx="17373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0070C0"/>
                </a:solidFill>
                <a:latin typeface="Calibri"/>
              </a:rPr>
              <a:t>Backend (Pi 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651760"/>
            <a:ext cx="64008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Eff. FPS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971800"/>
            <a:ext cx="36576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888888"/>
                </a:solidFill>
                <a:latin typeface="Calibr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429000"/>
            <a:ext cx="36576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888888"/>
                </a:solidFill>
                <a:latin typeface="Calibri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3886200"/>
            <a:ext cx="36576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888888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4343400"/>
            <a:ext cx="36576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88888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4800600"/>
            <a:ext cx="36576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0">
                <a:solidFill>
                  <a:srgbClr val="888888"/>
                </a:solidFill>
                <a:latin typeface="Calibri"/>
              </a:rPr>
              <a:t>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4169664"/>
            <a:ext cx="457200" cy="768096"/>
          </a:xfrm>
          <a:prstGeom prst="rect">
            <a:avLst/>
          </a:prstGeom>
          <a:solidFill>
            <a:srgbClr val="E97132"/>
          </a:solidFill>
          <a:ln w="9525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160520" y="3849624"/>
            <a:ext cx="548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E97132"/>
                </a:solidFill>
                <a:latin typeface="Calibri"/>
              </a:rPr>
              <a:t>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983479"/>
            <a:ext cx="5486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TFLite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3193541"/>
            <a:ext cx="457200" cy="1744218"/>
          </a:xfrm>
          <a:prstGeom prst="rect">
            <a:avLst/>
          </a:prstGeom>
          <a:solidFill>
            <a:srgbClr val="0070C0"/>
          </a:solidFill>
          <a:ln w="9525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800600" y="2873501"/>
            <a:ext cx="548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070C0"/>
                </a:solidFill>
                <a:latin typeface="Calibri"/>
              </a:rPr>
              <a:t>10.9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4983479"/>
            <a:ext cx="5486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Calibri"/>
              </a:rPr>
              <a:t>NCNN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5394960"/>
            <a:ext cx="17373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27AE60"/>
                </a:solidFill>
                <a:latin typeface="Calibri"/>
              </a:rPr>
              <a:t>2.3x faster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2194560"/>
            <a:ext cx="2286000" cy="4389120"/>
          </a:xfrm>
          <a:prstGeom prst="rect">
            <a:avLst/>
          </a:prstGeom>
          <a:solidFill>
            <a:srgbClr val="F8F9FA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852159" y="2331720"/>
            <a:ext cx="2103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0070C0"/>
                </a:solidFill>
                <a:latin typeface="Calibri"/>
              </a:rPr>
              <a:t>Pixel -&gt; Distance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20840" y="2697480"/>
            <a:ext cx="365760" cy="137160"/>
          </a:xfrm>
          <a:prstGeom prst="rect">
            <a:avLst/>
          </a:prstGeom>
          <a:solidFill>
            <a:srgbClr val="888888"/>
          </a:solidFill>
          <a:ln w="952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cxnSp>
        <p:nvCxnSpPr>
          <p:cNvPr id="28" name="Connector 27"/>
          <p:cNvCxnSpPr/>
          <p:nvPr/>
        </p:nvCxnSpPr>
        <p:spPr>
          <a:xfrm>
            <a:off x="6537959" y="2761488"/>
            <a:ext cx="182881" cy="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086600" y="2761488"/>
            <a:ext cx="182880" cy="0"/>
          </a:xfrm>
          <a:prstGeom prst="line">
            <a:avLst/>
          </a:prstGeom>
          <a:ln w="1905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446520" y="2715768"/>
            <a:ext cx="182880" cy="73152"/>
          </a:xfrm>
          <a:prstGeom prst="roundRect">
            <a:avLst/>
          </a:prstGeom>
          <a:solidFill>
            <a:srgbClr val="888888"/>
          </a:solidFill>
          <a:ln w="952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178040" y="2715768"/>
            <a:ext cx="182880" cy="73152"/>
          </a:xfrm>
          <a:prstGeom prst="roundRect">
            <a:avLst/>
          </a:prstGeom>
          <a:solidFill>
            <a:srgbClr val="888888"/>
          </a:solidFill>
          <a:ln w="9525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cxnSp>
        <p:nvCxnSpPr>
          <p:cNvPr id="32" name="Connector 31"/>
          <p:cNvCxnSpPr/>
          <p:nvPr/>
        </p:nvCxnSpPr>
        <p:spPr>
          <a:xfrm>
            <a:off x="6903720" y="2852928"/>
            <a:ext cx="0" cy="2999232"/>
          </a:xfrm>
          <a:prstGeom prst="line">
            <a:avLst/>
          </a:prstGeom>
          <a:ln w="12700">
            <a:solidFill>
              <a:srgbClr val="0070C0"/>
            </a:solidFill>
            <a:prstDash val="lgDashDot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949440" y="4261104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070C0"/>
                </a:solidFill>
                <a:latin typeface="Calibri"/>
              </a:rPr>
              <a:t>h = 35m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6035040" y="2852928"/>
            <a:ext cx="868680" cy="2999232"/>
          </a:xfrm>
          <a:prstGeom prst="line">
            <a:avLst/>
          </a:prstGeom>
          <a:ln w="1270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903720" y="2852928"/>
            <a:ext cx="868680" cy="2999232"/>
          </a:xfrm>
          <a:prstGeom prst="line">
            <a:avLst/>
          </a:prstGeom>
          <a:ln w="1270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629400" y="3291840"/>
            <a:ext cx="548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E97132"/>
                </a:solidFill>
                <a:latin typeface="Calibri"/>
              </a:rPr>
              <a:t>54°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943600" y="5852160"/>
            <a:ext cx="1920240" cy="0"/>
          </a:xfrm>
          <a:prstGeom prst="line">
            <a:avLst/>
          </a:prstGeom>
          <a:ln w="254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7296912" y="5788152"/>
            <a:ext cx="128016" cy="128016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0" y="5532120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>
                <a:solidFill>
                  <a:srgbClr val="E97132"/>
                </a:solidFill>
                <a:latin typeface="Calibri"/>
              </a:rPr>
              <a:t>target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903720" y="5669280"/>
            <a:ext cx="457200" cy="0"/>
          </a:xfrm>
          <a:prstGeom prst="line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12280" y="5394960"/>
            <a:ext cx="73152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27AE60"/>
                </a:solidFill>
                <a:latin typeface="Calibri"/>
              </a:rPr>
              <a:t>d = px × GSD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943600"/>
            <a:ext cx="19202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Calibri"/>
              </a:rPr>
              <a:t>32m ground width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59" y="6126479"/>
            <a:ext cx="2103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  <a:latin typeface="Calibri"/>
              </a:rPr>
              <a:t>GSD = 0.022 m/px at 35m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83879" y="2194560"/>
            <a:ext cx="37947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0070C0"/>
                </a:solidFill>
                <a:latin typeface="Calibri"/>
              </a:rPr>
              <a:t>Camera &amp; Calibration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83879" y="2560320"/>
            <a:ext cx="3794760" cy="1234440"/>
          </a:xfrm>
          <a:prstGeom prst="rect">
            <a:avLst/>
          </a:prstGeom>
          <a:solidFill>
            <a:srgbClr val="F8F9FA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321040" y="2633472"/>
            <a:ext cx="3520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0070C0"/>
                </a:solidFill>
                <a:latin typeface="Calibri"/>
              </a:rPr>
              <a:t>IMX296 Global Shutter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926079"/>
            <a:ext cx="35204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1456 x 1088 px native resolution, 30 fps capture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Calibri"/>
              </a:rPr>
              <a:t>Global shutter - no rolling-shutter distortion at any speed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Calibri"/>
              </a:rPr>
              <a:t>Sub-pixel motion blur (&lt;0.5 px at 8 m/s) - no gimbal needed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83879" y="3931920"/>
            <a:ext cx="3794760" cy="1463040"/>
          </a:xfrm>
          <a:prstGeom prst="rect">
            <a:avLst/>
          </a:prstGeom>
          <a:solidFill>
            <a:srgbClr val="F8F9FA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321040" y="4005072"/>
            <a:ext cx="3520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0070C0"/>
                </a:solidFill>
                <a:latin typeface="Calibri"/>
              </a:rPr>
              <a:t>Pixel -&gt; Real-World Distance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4297680"/>
            <a:ext cx="352044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Calibri"/>
              </a:rPr>
              <a:t>FOV calibrated - focal length 5.46mm (22% off datasheet!)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Calibri"/>
              </a:rPr>
              <a:t>GSD = 0.022 m/px at 35m altitude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Calibri"/>
              </a:rPr>
              <a:t>Ground footprint = 32 x 24 m at 35m alt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Calibri"/>
              </a:rPr>
              <a:t>Pixel offset × GSD -&gt; metre offset -&gt; add to drone GPS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83879" y="5532120"/>
            <a:ext cx="3794760" cy="1188720"/>
          </a:xfrm>
          <a:prstGeom prst="rect">
            <a:avLst/>
          </a:prstGeom>
          <a:solidFill>
            <a:srgbClr val="F8F9FA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321040" y="5605272"/>
            <a:ext cx="3520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0070C0"/>
                </a:solidFill>
                <a:latin typeface="Calibri"/>
              </a:rPr>
              <a:t>Lens Distortion Correction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5897880"/>
            <a:ext cx="35204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Calibri"/>
              </a:rPr>
              <a:t>Checkerboard calibration - 14x9 board, RMS = 0.4 px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Calibri"/>
              </a:rPr>
              <a:t>Precomputed undistortion maps applied every frame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Calibri"/>
              </a:rPr>
              <a:t>Cost: +1.5ms per frame (negligible on 206ms inference)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9144000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070C0"/>
                </a:solidFill>
                <a:latin typeface="Calibri"/>
              </a:rPr>
              <a:t>Simulation and Sim2Real Ladder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05840"/>
            <a:ext cx="5303520" cy="5669280"/>
          </a:xfrm>
          <a:prstGeom prst="rect">
            <a:avLst/>
          </a:prstGeom>
          <a:solidFill>
            <a:srgbClr val="F8F9FA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" name="Right Triangle 3"/>
          <p:cNvSpPr/>
          <p:nvPr/>
        </p:nvSpPr>
        <p:spPr>
          <a:xfrm rot="1800000">
            <a:off x="2560320" y="3383280"/>
            <a:ext cx="914400" cy="914400"/>
          </a:xfrm>
          <a:prstGeom prst="rtTriangle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4389120"/>
            <a:ext cx="5303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Calibri"/>
              </a:rPr>
              <a:t>Simulation Recording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09160"/>
            <a:ext cx="530352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888888"/>
                </a:solidFill>
                <a:latin typeface="Calibri"/>
              </a:rPr>
              <a:t>takeoff -&gt; search -&gt; detect -&gt; centre -&gt; verify -&gt; land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005840"/>
            <a:ext cx="59436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/>
              </a:rPr>
              <a:t>Sim2Real Ladder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325880"/>
            <a:ext cx="59436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  <a:latin typeface="Calibri"/>
              </a:rPr>
              <a:t>(never fly something you haven't proven at every level below it)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600200"/>
            <a:ext cx="5943600" cy="502920"/>
          </a:xfrm>
          <a:prstGeom prst="rect">
            <a:avLst/>
          </a:prstGeom>
          <a:solidFill>
            <a:srgbClr val="FEF2F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035040" y="1645920"/>
            <a:ext cx="457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400" b="0">
                <a:solidFill>
                  <a:srgbClr val="F1C40F"/>
                </a:solidFill>
                <a:latin typeface="Calibri"/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2743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E74C3C"/>
                </a:solidFill>
                <a:latin typeface="Calibri"/>
              </a:rPr>
              <a:t>Real 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856232"/>
            <a:ext cx="274320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Calibri"/>
              </a:rPr>
              <a:t>Full autonomous SAR - demo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1764792"/>
            <a:ext cx="5486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1">
                <a:solidFill>
                  <a:srgbClr val="E74C3C"/>
                </a:solidFill>
                <a:latin typeface="Calibri"/>
              </a:rPr>
              <a:t>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2121408"/>
            <a:ext cx="365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888888"/>
                </a:solidFill>
                <a:latin typeface="Calibri"/>
              </a:rPr>
              <a:t>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377439"/>
            <a:ext cx="5029200" cy="1371600"/>
          </a:xfrm>
          <a:prstGeom prst="rect">
            <a:avLst/>
          </a:prstGeom>
          <a:solidFill>
            <a:srgbClr val="F8F9FA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537960" y="2450591"/>
            <a:ext cx="475488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>
                <a:solidFill>
                  <a:srgbClr val="0070C0"/>
                </a:solidFill>
                <a:latin typeface="Calibri"/>
              </a:rPr>
              <a:t>FLIGHT MISSIONS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734055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724911"/>
            <a:ext cx="457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Calibri"/>
              </a:rPr>
              <a:t>M4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2724911"/>
            <a:ext cx="2743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Auto detect + hover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2971799"/>
            <a:ext cx="201168" cy="201168"/>
          </a:xfrm>
          <a:prstGeom prst="rect">
            <a:avLst/>
          </a:prstGeom>
          <a:solidFill>
            <a:srgbClr val="FFFFFF"/>
          </a:solidFill>
          <a:ln w="15875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2962656"/>
            <a:ext cx="457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Calibri"/>
              </a:rPr>
              <a:t>M3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962656"/>
            <a:ext cx="2743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Waypoint flight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3209543"/>
            <a:ext cx="201168" cy="201168"/>
          </a:xfrm>
          <a:prstGeom prst="rect">
            <a:avLst/>
          </a:prstGeom>
          <a:solidFill>
            <a:srgbClr val="0070C0"/>
          </a:solidFill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83680" y="3163823"/>
            <a:ext cx="201168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200399"/>
            <a:ext cx="457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Calibri"/>
              </a:rPr>
              <a:t>M2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200399"/>
            <a:ext cx="2743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Passive flight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3447287"/>
            <a:ext cx="201168" cy="201168"/>
          </a:xfrm>
          <a:prstGeom prst="rect">
            <a:avLst/>
          </a:prstGeom>
          <a:solidFill>
            <a:srgbClr val="0070C0"/>
          </a:solidFill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583680" y="3401567"/>
            <a:ext cx="201168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3438143"/>
            <a:ext cx="457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Calibri"/>
              </a:rPr>
              <a:t>M1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3438143"/>
            <a:ext cx="2743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Bench 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3767327"/>
            <a:ext cx="365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Calibri"/>
              </a:rP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023359"/>
            <a:ext cx="5029200" cy="868680"/>
          </a:xfrm>
          <a:prstGeom prst="rect">
            <a:avLst/>
          </a:prstGeom>
          <a:solidFill>
            <a:srgbClr val="F8F9FA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537960" y="4096511"/>
            <a:ext cx="475488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>
                <a:solidFill>
                  <a:srgbClr val="0070C0"/>
                </a:solidFill>
                <a:latin typeface="Calibri"/>
              </a:rPr>
              <a:t>GROUND VERIFICATION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4379976"/>
            <a:ext cx="201168" cy="201168"/>
          </a:xfrm>
          <a:prstGeom prst="rect">
            <a:avLst/>
          </a:prstGeom>
          <a:solidFill>
            <a:srgbClr val="0070C0"/>
          </a:solidFill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83680" y="4334256"/>
            <a:ext cx="201168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370831"/>
            <a:ext cx="457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Calibri"/>
              </a:rPr>
              <a:t>G2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4370831"/>
            <a:ext cx="2743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Outdoor calibration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4617720"/>
            <a:ext cx="201168" cy="201168"/>
          </a:xfrm>
          <a:prstGeom prst="rect">
            <a:avLst/>
          </a:prstGeom>
          <a:solidFill>
            <a:srgbClr val="0070C0"/>
          </a:solidFill>
          <a:ln w="15875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83680" y="4572000"/>
            <a:ext cx="201168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4608575"/>
            <a:ext cx="457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Calibri"/>
              </a:rPr>
              <a:t>G1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4608575"/>
            <a:ext cx="274320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Calibri"/>
              </a:rPr>
              <a:t>Unit tests + dry-run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2520" y="4910327"/>
            <a:ext cx="36576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Calibri"/>
              </a:rPr>
              <a:t>▲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5166359"/>
            <a:ext cx="5943600" cy="1691640"/>
          </a:xfrm>
          <a:prstGeom prst="rect">
            <a:avLst/>
          </a:prstGeom>
          <a:solidFill>
            <a:srgbClr val="F0FD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080760" y="5239512"/>
            <a:ext cx="56692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  <a:latin typeface="Calibri"/>
              </a:rPr>
              <a:t>SIMULATION FOUNDATION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5513831"/>
            <a:ext cx="566928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27AE60"/>
                </a:solidFill>
                <a:latin typeface="Calibri"/>
              </a:rPr>
              <a:t>All 12 mission requirements verified end-to-end in SITL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5788151"/>
            <a:ext cx="173736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555555"/>
                </a:solidFill>
                <a:latin typeface="Calibri"/>
              </a:rPr>
              <a:t>Spiral search pattern</a:t>
            </a:r>
          </a:p>
          <a:p>
            <a:pPr>
              <a:lnSpc>
                <a:spcPct val="115000"/>
              </a:lnSpc>
            </a:pPr>
            <a:r>
              <a:rPr sz="900" b="0">
                <a:solidFill>
                  <a:srgbClr val="555555"/>
                </a:solidFill>
                <a:latin typeface="Calibri"/>
              </a:rPr>
              <a:t>AI detection + centering</a:t>
            </a:r>
          </a:p>
          <a:p>
            <a:pPr>
              <a:lnSpc>
                <a:spcPct val="115000"/>
              </a:lnSpc>
            </a:pPr>
            <a:r>
              <a:rPr sz="900" b="0">
                <a:solidFill>
                  <a:srgbClr val="555555"/>
                </a:solidFill>
                <a:latin typeface="Calibri"/>
              </a:rPr>
              <a:t>Geofence + SSSI no-fly zone</a:t>
            </a:r>
          </a:p>
          <a:p>
            <a:pPr>
              <a:lnSpc>
                <a:spcPct val="115000"/>
              </a:lnSpc>
            </a:pPr>
            <a:r>
              <a:rPr sz="900" b="0">
                <a:solidFill>
                  <a:srgbClr val="555555"/>
                </a:solidFill>
                <a:latin typeface="Calibri"/>
              </a:rPr>
              <a:t>PLB beacon redirect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5788151"/>
            <a:ext cx="173736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555555"/>
                </a:solidFill>
                <a:latin typeface="Calibri"/>
              </a:rPr>
              <a:t>Attitude-compensated GPS</a:t>
            </a:r>
          </a:p>
          <a:p>
            <a:pPr>
              <a:lnSpc>
                <a:spcPct val="115000"/>
              </a:lnSpc>
            </a:pPr>
            <a:r>
              <a:rPr sz="900" b="0">
                <a:solidFill>
                  <a:srgbClr val="555555"/>
                </a:solidFill>
                <a:latin typeface="Calibri"/>
              </a:rPr>
              <a:t>Payload deploy sequence</a:t>
            </a:r>
          </a:p>
          <a:p>
            <a:pPr>
              <a:lnSpc>
                <a:spcPct val="115000"/>
              </a:lnSpc>
            </a:pPr>
            <a:r>
              <a:rPr sz="900" b="0">
                <a:solidFill>
                  <a:srgbClr val="555555"/>
                </a:solidFill>
                <a:latin typeface="Calibri"/>
              </a:rPr>
              <a:t>RTL failsafes</a:t>
            </a:r>
          </a:p>
          <a:p>
            <a:pPr>
              <a:lnSpc>
                <a:spcPct val="115000"/>
              </a:lnSpc>
            </a:pPr>
            <a:r>
              <a:rPr sz="900" b="0">
                <a:solidFill>
                  <a:srgbClr val="555555"/>
                </a:solidFill>
                <a:latin typeface="Calibri"/>
              </a:rPr>
              <a:t>Offset landing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38360" y="5788151"/>
            <a:ext cx="173736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Calibri"/>
              </a:rPr>
              <a:t>Simulated Realism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38360" y="6016751"/>
            <a:ext cx="2011679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555555"/>
                </a:solidFill>
                <a:latin typeface="Calibri"/>
              </a:rPr>
              <a:t>Same 1456×1088 as real camera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555555"/>
                </a:solidFill>
                <a:latin typeface="Calibri"/>
              </a:rPr>
              <a:t>Camera tilt (pitch/roll)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555555"/>
                </a:solidFill>
                <a:latin typeface="Calibri"/>
              </a:rPr>
              <a:t>Motion blur at flight speed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555555"/>
                </a:solidFill>
                <a:latin typeface="Calibri"/>
              </a:rPr>
              <a:t>GPS drift noise (±3m)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555555"/>
                </a:solidFill>
                <a:latin typeface="Calibri"/>
              </a:rPr>
              <a:t>Altitude-correct target scaling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