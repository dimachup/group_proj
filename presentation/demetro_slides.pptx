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070C0"/>
                </a:solidFill>
                <a:latin typeface="Calibri"/>
              </a:rPr>
              <a:t>CV to Target Estimate Pipeline</a:t>
            </a:r>
          </a:p>
        </p:txBody>
      </p:sp>
      <p:sp>
        <p:nvSpPr>
          <p:cNvPr id="3" name="Pentagon 2"/>
          <p:cNvSpPr/>
          <p:nvPr/>
        </p:nvSpPr>
        <p:spPr>
          <a:xfrm>
            <a:off x="365760" y="914400"/>
            <a:ext cx="2377440" cy="1143000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457200" tIns="137160" bIns="91440" wrap="square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Camera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1456 x 1088 px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DDE6F0"/>
                </a:solidFill>
                <a:latin typeface="Calibri"/>
              </a:rPr>
              <a:t>Global shutter</a:t>
            </a:r>
          </a:p>
        </p:txBody>
      </p:sp>
      <p:sp>
        <p:nvSpPr>
          <p:cNvPr id="4" name="Pentagon 3"/>
          <p:cNvSpPr/>
          <p:nvPr/>
        </p:nvSpPr>
        <p:spPr>
          <a:xfrm>
            <a:off x="2468880" y="914400"/>
            <a:ext cx="2377440" cy="1143000"/>
          </a:xfrm>
          <a:prstGeom prst="homePlat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457200" tIns="137160" bIns="91440" wrap="square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YOLOv8n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NCNN, 73 ms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DDE6F0"/>
                </a:solidFill>
                <a:latin typeface="Calibri"/>
              </a:rPr>
              <a:t>640x640 tensor</a:t>
            </a:r>
          </a:p>
        </p:txBody>
      </p:sp>
      <p:sp>
        <p:nvSpPr>
          <p:cNvPr id="5" name="Pentagon 4"/>
          <p:cNvSpPr/>
          <p:nvPr/>
        </p:nvSpPr>
        <p:spPr>
          <a:xfrm>
            <a:off x="4572000" y="914400"/>
            <a:ext cx="2377440" cy="1143000"/>
          </a:xfrm>
          <a:prstGeom prst="homePlat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457200" tIns="137160" bIns="91440" wrap="square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Pixel -&gt; GPS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FOV + altitude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DDE6F0"/>
                </a:solidFill>
                <a:latin typeface="Calibri"/>
              </a:rPr>
              <a:t>Ground projection</a:t>
            </a:r>
          </a:p>
        </p:txBody>
      </p:sp>
      <p:sp>
        <p:nvSpPr>
          <p:cNvPr id="6" name="Pentagon 5"/>
          <p:cNvSpPr/>
          <p:nvPr/>
        </p:nvSpPr>
        <p:spPr>
          <a:xfrm>
            <a:off x="6675120" y="914400"/>
            <a:ext cx="2377440" cy="1143000"/>
          </a:xfrm>
          <a:prstGeom prst="homePlat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457200" tIns="137160" bIns="91440" wrap="square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Attitude Fix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Pitch + roll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DDE6F0"/>
                </a:solidFill>
                <a:latin typeface="Calibri"/>
              </a:rPr>
              <a:t>Ray-trace from FC</a:t>
            </a:r>
          </a:p>
        </p:txBody>
      </p:sp>
      <p:sp>
        <p:nvSpPr>
          <p:cNvPr id="7" name="Pentagon 6"/>
          <p:cNvSpPr/>
          <p:nvPr/>
        </p:nvSpPr>
        <p:spPr>
          <a:xfrm>
            <a:off x="8778240" y="914400"/>
            <a:ext cx="2377440" cy="1143000"/>
          </a:xfrm>
          <a:prstGeom prst="homePlat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457200" tIns="137160" bIns="91440" wrap="square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Target GPS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~9 FPS effective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DDE6F0"/>
                </a:solidFill>
                <a:latin typeface="Calibri"/>
              </a:rPr>
              <a:t>CEP50 = 2.2 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3017520" cy="4389120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9" name="Picture 8" descr="estimation_heatmap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40279"/>
            <a:ext cx="2926079" cy="4297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520440" y="2194560"/>
            <a:ext cx="2103120" cy="4389120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17373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  <a:latin typeface="Calibri"/>
              </a:rPr>
              <a:t>Backend (Pi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51760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Eff. FPS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71800"/>
            <a:ext cx="3657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29000"/>
            <a:ext cx="3657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886200"/>
            <a:ext cx="3657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343400"/>
            <a:ext cx="3657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800600"/>
            <a:ext cx="3657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Calibri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169664"/>
            <a:ext cx="457200" cy="768096"/>
          </a:xfrm>
          <a:prstGeom prst="rect">
            <a:avLst/>
          </a:prstGeom>
          <a:solidFill>
            <a:srgbClr val="E97132"/>
          </a:solidFill>
          <a:ln w="9525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160520" y="384962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E97132"/>
                </a:solidFill>
                <a:latin typeface="Calibri"/>
              </a:rPr>
              <a:t>4.8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01091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TFLite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193542"/>
            <a:ext cx="457200" cy="1744218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800600" y="2873502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070C0"/>
                </a:solidFill>
                <a:latin typeface="Calibri"/>
              </a:rPr>
              <a:t>10.9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01091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NCNN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5349240"/>
            <a:ext cx="17373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2.3x faster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194560"/>
            <a:ext cx="2286000" cy="4389120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852159" y="2331720"/>
            <a:ext cx="2103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  <a:latin typeface="Calibri"/>
              </a:rPr>
              <a:t>Pixel -&gt; Distance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2697480"/>
            <a:ext cx="365760" cy="137160"/>
          </a:xfrm>
          <a:prstGeom prst="rect">
            <a:avLst/>
          </a:prstGeom>
          <a:solidFill>
            <a:srgbClr val="88888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6537959" y="2761488"/>
            <a:ext cx="182881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86600" y="2761488"/>
            <a:ext cx="18288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46520" y="2715768"/>
            <a:ext cx="182880" cy="73152"/>
          </a:xfrm>
          <a:prstGeom prst="roundRect">
            <a:avLst/>
          </a:prstGeom>
          <a:solidFill>
            <a:srgbClr val="88888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178040" y="2715768"/>
            <a:ext cx="182880" cy="73152"/>
          </a:xfrm>
          <a:prstGeom prst="roundRect">
            <a:avLst/>
          </a:prstGeom>
          <a:solidFill>
            <a:srgbClr val="88888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cxnSp>
        <p:nvCxnSpPr>
          <p:cNvPr id="32" name="Connector 31"/>
          <p:cNvCxnSpPr/>
          <p:nvPr/>
        </p:nvCxnSpPr>
        <p:spPr>
          <a:xfrm>
            <a:off x="6903720" y="2852928"/>
            <a:ext cx="0" cy="2999232"/>
          </a:xfrm>
          <a:prstGeom prst="line">
            <a:avLst/>
          </a:prstGeom>
          <a:ln w="12700">
            <a:solidFill>
              <a:srgbClr val="0070C0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49440" y="4261104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070C0"/>
                </a:solidFill>
                <a:latin typeface="Calibri"/>
              </a:rPr>
              <a:t>h = 35m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6035040" y="2852928"/>
            <a:ext cx="868680" cy="2999232"/>
          </a:xfrm>
          <a:prstGeom prst="line">
            <a:avLst/>
          </a:prstGeom>
          <a:ln w="127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903720" y="2852928"/>
            <a:ext cx="868680" cy="2999232"/>
          </a:xfrm>
          <a:prstGeom prst="line">
            <a:avLst/>
          </a:prstGeom>
          <a:ln w="127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29400" y="3291840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E97132"/>
                </a:solidFill>
                <a:latin typeface="Calibri"/>
              </a:rPr>
              <a:t>54°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0" y="5852160"/>
            <a:ext cx="1920240" cy="0"/>
          </a:xfrm>
          <a:prstGeom prst="line">
            <a:avLst/>
          </a:prstGeom>
          <a:ln w="254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296912" y="5788152"/>
            <a:ext cx="128016" cy="128016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55321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E97132"/>
                </a:solidFill>
                <a:latin typeface="Calibri"/>
              </a:rPr>
              <a:t>target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03720" y="5669280"/>
            <a:ext cx="457200" cy="0"/>
          </a:xfrm>
          <a:prstGeom prst="line">
            <a:avLst/>
          </a:prstGeom>
          <a:ln w="254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12280" y="5394960"/>
            <a:ext cx="7315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7AE60"/>
                </a:solidFill>
                <a:latin typeface="Calibri"/>
              </a:rPr>
              <a:t>d = px × GSD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943600"/>
            <a:ext cx="1920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32m ground width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59" y="6126479"/>
            <a:ext cx="2103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GSD = 0.022 m/px at 35m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2194560"/>
            <a:ext cx="3794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0C0"/>
                </a:solidFill>
                <a:latin typeface="Calibri"/>
              </a:rPr>
              <a:t>Camera &amp; Calibration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2560320"/>
            <a:ext cx="3794760" cy="1234440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21040" y="2633472"/>
            <a:ext cx="3520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070C0"/>
                </a:solidFill>
                <a:latin typeface="Calibri"/>
              </a:rPr>
              <a:t>IMX296 Global Shutter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2926079"/>
            <a:ext cx="35204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1456 x 1088 px native resolution, 30 fps capture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Global shutter - no rolling-shutter distortion at any speed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Sub-pixel motion blur (&lt;0.5 px at 8 m/s) - no gimbal needed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83879" y="3931920"/>
            <a:ext cx="3794760" cy="1463040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321040" y="4005072"/>
            <a:ext cx="3520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070C0"/>
                </a:solidFill>
                <a:latin typeface="Calibri"/>
              </a:rPr>
              <a:t>Pixel -&gt; Real-World Distance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297680"/>
            <a:ext cx="352044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FOV calibrated - focal length 5.46mm (22% off datasheet!)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GSD = 0.022 m/px at 35m altitude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Ground footprint = 32 x 24 m at 35m alt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Pixel offset × GSD -&gt; metre offset -&gt; add to drone GPS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5532120"/>
            <a:ext cx="3794760" cy="1188720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321040" y="5605272"/>
            <a:ext cx="3520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070C0"/>
                </a:solidFill>
                <a:latin typeface="Calibri"/>
              </a:rPr>
              <a:t>Lens Distortion Correction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897880"/>
            <a:ext cx="35204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Checkerboard calibration - 14x9 board, RMS = 0.4 px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Precomputed undistortion maps applied every frame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Cost: +1.5ms per frame (negligible on 206ms inference)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70C0"/>
                </a:solidFill>
                <a:latin typeface="Calibri"/>
              </a:rPr>
              <a:t>Simulation and Sim2Real Ladder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5303520" cy="3520440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Isosceles Triangle 3"/>
          <p:cNvSpPr/>
          <p:nvPr/>
        </p:nvSpPr>
        <p:spPr>
          <a:xfrm rot="5400000">
            <a:off x="2514600" y="2263140"/>
            <a:ext cx="1005840" cy="1005840"/>
          </a:xfrm>
          <a:prstGeom prst="triangl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26898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Calibri"/>
              </a:rPr>
              <a:t>Simulation Recording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43300"/>
            <a:ext cx="53035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Calibri"/>
              </a:rPr>
              <a:t>takeoff -&gt; search -&gt; detect -&gt; centre -&gt; verify -&gt; land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663440"/>
            <a:ext cx="5303520" cy="2148840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473659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070C0"/>
                </a:solidFill>
                <a:latin typeface="Calibri"/>
              </a:rPr>
              <a:t>STACKABLE SIMULATION 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47488"/>
            <a:ext cx="1645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0C0"/>
                </a:solidFill>
                <a:latin typeface="Consolas"/>
              </a:rPr>
              <a:t>--sim-tilt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5047488"/>
            <a:ext cx="3291839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Camera perspective (pitch/roll)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266944"/>
            <a:ext cx="1645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0C0"/>
                </a:solidFill>
                <a:latin typeface="Consolas"/>
              </a:rPr>
              <a:t>--shake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266944"/>
            <a:ext cx="3291839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Pixel-level vibration jitter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86400"/>
            <a:ext cx="1645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0C0"/>
                </a:solidFill>
                <a:latin typeface="Consolas"/>
              </a:rPr>
              <a:t>--blur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486400"/>
            <a:ext cx="3291839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Motion blur proportional to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05856"/>
            <a:ext cx="1645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0C0"/>
                </a:solidFill>
                <a:latin typeface="Consolas"/>
              </a:rPr>
              <a:t>--noise 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705856"/>
            <a:ext cx="3291839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GPS + attitude Gaussian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25312"/>
            <a:ext cx="1645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E97132"/>
                </a:solidFill>
                <a:latin typeface="Consolas"/>
              </a:rPr>
              <a:t>--spiral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925312"/>
            <a:ext cx="3291839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Spiral search (vs lawnmower)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44768"/>
            <a:ext cx="1645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E97132"/>
                </a:solidFill>
                <a:latin typeface="Consolas"/>
              </a:rPr>
              <a:t>--lock-yaw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6144768"/>
            <a:ext cx="3291839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Maintain heading during sweep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64224"/>
            <a:ext cx="1645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Consolas"/>
              </a:rPr>
              <a:t>--smart-detect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364224"/>
            <a:ext cx="3291839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Require consecutive confirms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83680"/>
            <a:ext cx="16459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Consolas"/>
              </a:rPr>
              <a:t>--center-verify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6583680"/>
            <a:ext cx="3291839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Hover GPS average at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005840"/>
            <a:ext cx="5943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070C0"/>
                </a:solidFill>
                <a:latin typeface="Calibri"/>
              </a:rPr>
              <a:t>Sim2Real Ladder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325880"/>
            <a:ext cx="5943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(never fly something you haven't proven at every level below 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600200"/>
            <a:ext cx="5943600" cy="502920"/>
          </a:xfrm>
          <a:prstGeom prst="rect">
            <a:avLst/>
          </a:prstGeom>
          <a:solidFill>
            <a:srgbClr val="FEF2F2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035040" y="1645920"/>
            <a:ext cx="457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0">
                <a:solidFill>
                  <a:srgbClr val="F1C40F"/>
                </a:solidFill>
                <a:latin typeface="Calibri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645920"/>
            <a:ext cx="2743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Calibri"/>
              </a:rPr>
              <a:t>Real 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1856232"/>
            <a:ext cx="27432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Full autonomous SAR - demo 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176479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1">
                <a:solidFill>
                  <a:srgbClr val="E74C3C"/>
                </a:solidFill>
                <a:latin typeface="Calibri"/>
              </a:rPr>
              <a:t>GOAL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2121408"/>
            <a:ext cx="365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Calibri"/>
              </a:rPr>
              <a:t>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377439"/>
            <a:ext cx="5029200" cy="1371600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37960" y="2450591"/>
            <a:ext cx="4754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0C0"/>
                </a:solidFill>
                <a:latin typeface="Calibri"/>
              </a:rPr>
              <a:t>FLIGHT MISSIONS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734055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58000" y="2724911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M4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724911"/>
            <a:ext cx="2743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Auto detect + hover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2971799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58000" y="2962656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M3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962656"/>
            <a:ext cx="2743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Waypoint flight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209543"/>
            <a:ext cx="201168" cy="201168"/>
          </a:xfrm>
          <a:prstGeom prst="rect">
            <a:avLst/>
          </a:prstGeom>
          <a:solidFill>
            <a:srgbClr val="0070C0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0" y="3163823"/>
            <a:ext cx="20116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200399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M2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3200399"/>
            <a:ext cx="2743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Passive flight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3447287"/>
            <a:ext cx="201168" cy="201168"/>
          </a:xfrm>
          <a:prstGeom prst="rect">
            <a:avLst/>
          </a:prstGeom>
          <a:solidFill>
            <a:srgbClr val="0070C0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0" y="3401567"/>
            <a:ext cx="20116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438143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M1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3438143"/>
            <a:ext cx="2743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Bench integration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767327"/>
            <a:ext cx="365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Calibri"/>
              </a:rPr>
              <a:t>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023359"/>
            <a:ext cx="5029200" cy="868680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537960" y="4096511"/>
            <a:ext cx="47548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0C0"/>
                </a:solidFill>
                <a:latin typeface="Calibri"/>
              </a:rPr>
              <a:t>GROUND VERIFICATION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379976"/>
            <a:ext cx="201168" cy="201168"/>
          </a:xfrm>
          <a:prstGeom prst="rect">
            <a:avLst/>
          </a:prstGeom>
          <a:solidFill>
            <a:srgbClr val="0070C0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0" y="4334256"/>
            <a:ext cx="20116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370831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G2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4370831"/>
            <a:ext cx="2743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Outdoor calibration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4617720"/>
            <a:ext cx="201168" cy="201168"/>
          </a:xfrm>
          <a:prstGeom prst="rect">
            <a:avLst/>
          </a:prstGeom>
          <a:solidFill>
            <a:srgbClr val="0070C0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583680" y="4572000"/>
            <a:ext cx="20116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4608575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G1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9480" y="4608575"/>
            <a:ext cx="2743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Unit tests + dry-run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20" y="4910327"/>
            <a:ext cx="365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▲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0" y="5166359"/>
            <a:ext cx="5943600" cy="1691640"/>
          </a:xfrm>
          <a:prstGeom prst="rect">
            <a:avLst/>
          </a:prstGeom>
          <a:solidFill>
            <a:srgbClr val="F0FD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080760" y="5239512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Calibri"/>
              </a:rPr>
              <a:t>SIMULATION FOUNDATION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80760" y="5513831"/>
            <a:ext cx="56692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Calibri"/>
              </a:rPr>
              <a:t>All 12 mission requirements verified end-to-end in SITL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80760" y="5788151"/>
            <a:ext cx="17373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Spiral search pattern</a:t>
            </a:r>
          </a:p>
          <a:p>
            <a:pPr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AI detection + centering</a:t>
            </a:r>
          </a:p>
          <a:p>
            <a:pPr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Geofence + SSSI no-fly zone</a:t>
            </a:r>
          </a:p>
          <a:p>
            <a:pPr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PLB beacon redirect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5788151"/>
            <a:ext cx="17373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Attitude-compensated GPS</a:t>
            </a:r>
          </a:p>
          <a:p>
            <a:pPr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Payload deploy sequence</a:t>
            </a:r>
          </a:p>
          <a:p>
            <a:pPr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RTL failsafes</a:t>
            </a:r>
          </a:p>
          <a:p>
            <a:pPr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Offset landing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38360" y="5788151"/>
            <a:ext cx="17373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Calibri"/>
              </a:rPr>
              <a:t>Simulated Realism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38360" y="6016751"/>
            <a:ext cx="2011679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555555"/>
                </a:solidFill>
                <a:latin typeface="Calibri"/>
              </a:rPr>
              <a:t>Same 1456×1088 as real camera</a:t>
            </a:r>
          </a:p>
          <a:p>
            <a:pPr>
              <a:lnSpc>
                <a:spcPct val="115000"/>
              </a:lnSpc>
            </a:pPr>
            <a:r>
              <a:rPr sz="800" b="0">
                <a:solidFill>
                  <a:srgbClr val="555555"/>
                </a:solidFill>
                <a:latin typeface="Calibri"/>
              </a:rPr>
              <a:t>Camera tilt (pitch/roll)</a:t>
            </a:r>
          </a:p>
          <a:p>
            <a:pPr>
              <a:lnSpc>
                <a:spcPct val="115000"/>
              </a:lnSpc>
            </a:pPr>
            <a:r>
              <a:rPr sz="800" b="0">
                <a:solidFill>
                  <a:srgbClr val="555555"/>
                </a:solidFill>
                <a:latin typeface="Calibri"/>
              </a:rPr>
              <a:t>Motion blur at flight speed</a:t>
            </a:r>
          </a:p>
          <a:p>
            <a:pPr>
              <a:lnSpc>
                <a:spcPct val="115000"/>
              </a:lnSpc>
            </a:pPr>
            <a:r>
              <a:rPr sz="800" b="0">
                <a:solidFill>
                  <a:srgbClr val="555555"/>
                </a:solidFill>
                <a:latin typeface="Calibri"/>
              </a:rPr>
              <a:t>GPS drift noise (±3m)</a:t>
            </a:r>
          </a:p>
          <a:p>
            <a:pPr>
              <a:lnSpc>
                <a:spcPct val="115000"/>
              </a:lnSpc>
            </a:pPr>
            <a:r>
              <a:rPr sz="800" b="0">
                <a:solidFill>
                  <a:srgbClr val="555555"/>
                </a:solidFill>
                <a:latin typeface="Calibri"/>
              </a:rPr>
              <a:t>Altitude-correct target 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